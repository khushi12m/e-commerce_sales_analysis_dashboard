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Local\Packages\5319275A.WhatsAppDesktop_cv1g1gvanyjgm\LocalState\sessions\1ED1E3FDB9F555C8D1F783DD52D7711E1830CBB7\transfers\2026-35\Que%20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Local\Packages\5319275A.WhatsAppDesktop_cv1g1gvanyjgm\LocalState\sessions\1ED1E3FDB9F555C8D1F783DD52D7711E1830CBB7\transfers\2026-35\Que%207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Local\Packages\5319275A.WhatsAppDesktop_cv1g1gvanyjgm\LocalState\sessions\1ED1E3FDB9F555C8D1F783DD52D7711E1830CBB7\transfers\2026-35\Que%207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Local\Packages\5319275A.WhatsAppDesktop_cv1g1gvanyjgm\LocalState\sessions\1ED1E3FDB9F555C8D1F783DD52D7711E1830CBB7\transfers\2026-35\Que%207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Local\Packages\5319275A.WhatsAppDesktop_cv1g1gvanyjgm\LocalState\sessions\1ED1E3FDB9F555C8D1F783DD52D7711E1830CBB7\transfers\2026-35\Que%207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Local\Packages\5319275A.WhatsAppDesktop_cv1g1gvanyjgm\LocalState\sessions\1ED1E3FDB9F555C8D1F783DD52D7711E1830CBB7\transfers\2026-35\Que%207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Local\Packages\5319275A.WhatsAppDesktop_cv1g1gvanyjgm\LocalState\sessions\1ED1E3FDB9F555C8D1F783DD52D7711E1830CBB7\transfers\2026-35\Que%207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Payment Statistics: Weekday vs Weekend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'[Que 7.xlsx]Sheet1'!$B$3</c:f>
              <c:strCache>
                <c:ptCount val="1"/>
                <c:pt idx="0">
                  <c:v>Sum of payment_value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lumMod val="114000"/>
                    </a:schemeClr>
                  </a:gs>
                  <a:gs pos="100000">
                    <a:schemeClr val="accent1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56CC-4DF9-9242-46A2907C599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lumMod val="114000"/>
                    </a:schemeClr>
                  </a:gs>
                  <a:gs pos="100000">
                    <a:schemeClr val="accent2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56CC-4DF9-9242-46A2907C599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lumMod val="114000"/>
                    </a:schemeClr>
                  </a:gs>
                  <a:gs pos="100000">
                    <a:schemeClr val="accent3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56CC-4DF9-9242-46A2907C5993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CC-4DF9-9242-46A2907C59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'[Que 7.xlsx]Sheet1'!$A$4:$A$6</c:f>
              <c:strCache>
                <c:ptCount val="3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'[Que 7.xlsx]Sheet1'!$B$4:$B$6</c:f>
              <c:numCache>
                <c:formatCode>General</c:formatCode>
                <c:ptCount val="3"/>
                <c:pt idx="0">
                  <c:v>12367988.08</c:v>
                </c:pt>
                <c:pt idx="1">
                  <c:v>3640884.04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6CC-4DF9-9242-46A2907C59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31ceaf7-a345-4b37-be25-7f3d706b09db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5-Star Reviews – Credit Card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'[Que 7.xlsx]Sheet1'!$I$2</c:f>
              <c:strCache>
                <c:ptCount val="1"/>
                <c:pt idx="0">
                  <c:v>Sum of ORDER NO OF CREDIT CARDS (5 STARS)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'[Que 7.xlsx]Sheet1'!$I$3</c:f>
              <c:numCache>
                <c:formatCode>General</c:formatCode>
                <c:ptCount val="1"/>
                <c:pt idx="0">
                  <c:v>43981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5D-4175-B5EA-DEAD0C0111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374220784"/>
        <c:axId val="38429454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'[Que 7.xlsx]Sheet1'!$J$2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tint val="98000"/>
                          <a:lumMod val="114000"/>
                        </a:schemeClr>
                      </a:gs>
                      <a:gs pos="100000">
                        <a:schemeClr val="accent2">
                          <a:shade val="90000"/>
                          <a:lumMod val="8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63500" dist="38100" dir="5400000" rotWithShape="0">
                      <a:srgbClr val="000000">
                        <a:alpha val="60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Lit>
                    <c:formatCode>General</c:formatCode>
                    <c:ptCount val="1"/>
                  </c:numLit>
                </c:val>
                <c:extLst>
                  <c:ext xmlns:c16="http://schemas.microsoft.com/office/drawing/2014/chart" uri="{C3380CC4-5D6E-409C-BE32-E72D297353CC}">
                    <c16:uniqueId val="{00000001-9B5D-4175-B5EA-DEAD0C011188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'[Que 7.xlsx]Sheet1'!$K$2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tint val="98000"/>
                          <a:lumMod val="114000"/>
                        </a:schemeClr>
                      </a:gs>
                      <a:gs pos="100000">
                        <a:schemeClr val="accent3">
                          <a:shade val="90000"/>
                          <a:lumMod val="8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63500" dist="38100" dir="5400000" rotWithShape="0">
                      <a:srgbClr val="000000">
                        <a:alpha val="60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Lit>
                    <c:formatCode>General</c:formatCode>
                    <c:ptCount val="1"/>
                  </c:numLit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B5D-4175-B5EA-DEAD0C011188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'[Que 7.xlsx]Sheet1'!$L$2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gradFill rotWithShape="1">
                    <a:gsLst>
                      <a:gs pos="0">
                        <a:schemeClr val="accent4">
                          <a:tint val="98000"/>
                          <a:lumMod val="114000"/>
                        </a:schemeClr>
                      </a:gs>
                      <a:gs pos="100000">
                        <a:schemeClr val="accent4">
                          <a:shade val="90000"/>
                          <a:lumMod val="8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63500" dist="38100" dir="5400000" rotWithShape="0">
                      <a:srgbClr val="000000">
                        <a:alpha val="60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Lit>
                    <c:formatCode>General</c:formatCode>
                    <c:ptCount val="1"/>
                  </c:numLit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9B5D-4175-B5EA-DEAD0C011188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'[Que 7.xlsx]Sheet1'!$M$2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gradFill rotWithShape="1">
                    <a:gsLst>
                      <a:gs pos="0">
                        <a:schemeClr val="accent5">
                          <a:tint val="98000"/>
                          <a:lumMod val="114000"/>
                        </a:schemeClr>
                      </a:gs>
                      <a:gs pos="100000">
                        <a:schemeClr val="accent5">
                          <a:shade val="90000"/>
                          <a:lumMod val="8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63500" dist="38100" dir="5400000" rotWithShape="0">
                      <a:srgbClr val="000000">
                        <a:alpha val="60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Lit>
                    <c:formatCode>General</c:formatCode>
                    <c:ptCount val="1"/>
                  </c:numLit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9B5D-4175-B5EA-DEAD0C011188}"/>
                  </c:ext>
                </c:extLst>
              </c15:ser>
            </c15:filteredBarSeries>
          </c:ext>
        </c:extLst>
      </c:barChart>
      <c:catAx>
        <c:axId val="374220784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294544"/>
        <c:crosses val="autoZero"/>
        <c:auto val="1"/>
        <c:lblAlgn val="ctr"/>
        <c:lblOffset val="100"/>
        <c:noMultiLvlLbl val="0"/>
      </c:catAx>
      <c:valAx>
        <c:axId val="384294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4220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f862198-a47f-4b2b-89a5-4b851210f03b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3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300" baseline="0"/>
              <a:t>Average Delivery Days – Pet Shop</a:t>
            </a:r>
            <a:endParaRPr lang="en-US" sz="1300" baseline="0"/>
          </a:p>
        </c:rich>
      </c:tx>
      <c:layout>
        <c:manualLayout>
          <c:xMode val="edge"/>
          <c:yMode val="edge"/>
          <c:x val="0.16456007536890399"/>
          <c:y val="6.605135418958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3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658366843100101"/>
          <c:y val="0.21371280191692299"/>
          <c:w val="0.71372780815266701"/>
          <c:h val="0.743791867434481"/>
        </c:manualLayout>
      </c:layout>
      <c:areaChart>
        <c:grouping val="standard"/>
        <c:varyColors val="0"/>
        <c:ser>
          <c:idx val="0"/>
          <c:order val="0"/>
          <c:tx>
            <c:strRef>
              <c:f>'[Que 7.xlsx]Sheet1'!$B$13:$B$14</c:f>
              <c:strCache>
                <c:ptCount val="1"/>
                <c:pt idx="0">
                  <c:v>Average of Delivery Days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dLbls>
            <c:dLbl>
              <c:idx val="0"/>
              <c:layout>
                <c:manualLayout>
                  <c:x val="0.158444372123629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F4A-4443-9092-15E4812C4C9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4A-4443-9092-15E4812C4C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noFill/>
                    </a:ln>
                    <a:effectLst/>
                  </c:spPr>
                </c15:leaderLines>
              </c:ext>
            </c:extLst>
          </c:dLbls>
          <c:cat>
            <c:strRef>
              <c:f>'[Que 7.xlsx]Sheet1'!$A$15:$A$17</c:f>
              <c:strCache>
                <c:ptCount val="3"/>
                <c:pt idx="0">
                  <c:v>pet_shop</c:v>
                </c:pt>
                <c:pt idx="1">
                  <c:v>Grand Total</c:v>
                </c:pt>
              </c:strCache>
            </c:strRef>
          </c:cat>
          <c:val>
            <c:numRef>
              <c:f>'[Que 7.xlsx]Sheet1'!$B$15:$B$17</c:f>
              <c:numCache>
                <c:formatCode>General</c:formatCode>
                <c:ptCount val="3"/>
                <c:pt idx="0">
                  <c:v>12.094085575687201</c:v>
                </c:pt>
                <c:pt idx="1">
                  <c:v>12.094085575687201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4A-4443-9092-15E4812C4C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374193408"/>
        <c:axId val="384177424"/>
      </c:areaChart>
      <c:catAx>
        <c:axId val="3741934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84177424"/>
        <c:crosses val="autoZero"/>
        <c:auto val="1"/>
        <c:lblAlgn val="ctr"/>
        <c:lblOffset val="100"/>
        <c:noMultiLvlLbl val="0"/>
      </c:catAx>
      <c:valAx>
        <c:axId val="384177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41934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9f979a7-e35d-4c4c-a92b-2b2d056121ba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Average Price &amp; Payment – São Paulo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108.17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C5C-42C6-B2BF-FDD0C33B2DB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153.03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C5C-42C6-B2BF-FDD0C33B2D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'[Que 7.xlsx]Sheet1'!$J$18:$N$19</c:f>
              <c:multiLvlStrCache>
                <c:ptCount val="5"/>
                <c:lvl>
                  <c:pt idx="0">
                    <c:v>Average of price</c:v>
                  </c:pt>
                  <c:pt idx="1">
                    <c:v>Average of payment_value</c:v>
                  </c:pt>
                </c:lvl>
                <c:lvl/>
              </c:multiLvlStrCache>
            </c:multiLvlStrRef>
          </c:cat>
          <c:val>
            <c:numRef>
              <c:f>'[Que 7.xlsx]Sheet1'!$J$20:$N$20</c:f>
              <c:numCache>
                <c:formatCode>General</c:formatCode>
                <c:ptCount val="5"/>
                <c:pt idx="0">
                  <c:v>113.058092906289</c:v>
                </c:pt>
                <c:pt idx="1">
                  <c:v>134.64968369507699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5C-42C6-B2BF-FDD0C33B2D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50947840"/>
        <c:axId val="38405838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gradFill rotWithShape="1">
                    <a:gsLst>
                      <a:gs pos="0">
                        <a:schemeClr val="accent2">
                          <a:tint val="98000"/>
                          <a:lumMod val="114000"/>
                        </a:schemeClr>
                      </a:gs>
                      <a:gs pos="100000">
                        <a:schemeClr val="accent2">
                          <a:shade val="90000"/>
                          <a:lumMod val="84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63500" dist="38100" dir="5400000" rotWithShape="0">
                      <a:srgbClr val="000000">
                        <a:alpha val="60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 prstMaterial="plastic">
                    <a:bevelT w="0" h="0"/>
                  </a:sp3d>
                </c:spPr>
                <c:invertIfNegative val="0"/>
                <c:cat>
                  <c:multiLvlStrRef>
                    <c:extLst>
                      <c:ext uri="{02D57815-91ED-43cb-92C2-25804820EDAC}">
                        <c15:formulaRef>
                          <c15:sqref>'[Que 7.xlsx]Sheet1'!$J$18:$N$19</c15:sqref>
                        </c15:formulaRef>
                      </c:ext>
                    </c:extLst>
                    <c:multiLvlStrCache>
                      <c:ptCount val="5"/>
                      <c:lvl>
                        <c:pt idx="0">
                          <c:v>Average of price</c:v>
                        </c:pt>
                        <c:pt idx="1">
                          <c:v>Average of payment_value</c:v>
                        </c:pt>
                      </c:lvl>
                      <c:lvl/>
                    </c:multiLvlStrCache>
                  </c:multiLvlStrRef>
                </c:cat>
                <c:val>
                  <c:numLit>
                    <c:formatCode>General</c:formatCode>
                    <c:ptCount val="5"/>
                  </c:numLit>
                </c:val>
                <c:extLst>
                  <c:ext xmlns:c16="http://schemas.microsoft.com/office/drawing/2014/chart" uri="{C3380CC4-5D6E-409C-BE32-E72D297353CC}">
                    <c16:uniqueId val="{00000003-CC5C-42C6-B2BF-FDD0C33B2DB0}"/>
                  </c:ext>
                </c:extLst>
              </c15:ser>
            </c15:filteredBarSeries>
          </c:ext>
        </c:extLst>
      </c:barChart>
      <c:catAx>
        <c:axId val="350947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058384"/>
        <c:crosses val="autoZero"/>
        <c:auto val="1"/>
        <c:lblAlgn val="ctr"/>
        <c:lblOffset val="100"/>
        <c:noMultiLvlLbl val="0"/>
      </c:catAx>
      <c:valAx>
        <c:axId val="384058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947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f69d7fd-0a9c-4bd9-a20f-14e36009df74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Shipping Days vs Review Score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"Total"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{"1","2","3","4","5"}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{21.26693057,16.60998974,14.19749652,12.24696978,10.61771028}</c:f>
              <c:numCache>
                <c:formatCode>General</c:formatCode>
                <c:ptCount val="5"/>
                <c:pt idx="0">
                  <c:v>21.266930565957001</c:v>
                </c:pt>
                <c:pt idx="1">
                  <c:v>16.609989736572</c:v>
                </c:pt>
                <c:pt idx="2">
                  <c:v>14.1974965229485</c:v>
                </c:pt>
                <c:pt idx="3">
                  <c:v>12.2469697771661</c:v>
                </c:pt>
                <c:pt idx="4">
                  <c:v>10.6177102787272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E0-4429-B70F-9BFCE2FF82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119307855"/>
        <c:axId val="380950975"/>
      </c:barChart>
      <c:catAx>
        <c:axId val="1119307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0950975"/>
        <c:crosses val="autoZero"/>
        <c:auto val="1"/>
        <c:lblAlgn val="ctr"/>
        <c:lblOffset val="100"/>
        <c:noMultiLvlLbl val="0"/>
      </c:catAx>
      <c:valAx>
        <c:axId val="380950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9307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a7c4f8b-359c-4b54-978b-e76c0c7f27ff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10 categories by sales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'[Worksheet in Que 7]Sheet6'!$B$3</c:f>
              <c:strCache>
                <c:ptCount val="1"/>
                <c:pt idx="0">
                  <c:v>Sum of price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'[Worksheet in Que 7]Sheet6'!$A$4:$A$14</c:f>
              <c:strCache>
                <c:ptCount val="11"/>
                <c:pt idx="0">
                  <c:v>garden_tools</c:v>
                </c:pt>
                <c:pt idx="1">
                  <c:v>auto</c:v>
                </c:pt>
                <c:pt idx="2">
                  <c:v>housewares</c:v>
                </c:pt>
                <c:pt idx="3">
                  <c:v>cool_stuff</c:v>
                </c:pt>
                <c:pt idx="4">
                  <c:v>furniture_decor</c:v>
                </c:pt>
                <c:pt idx="5">
                  <c:v>computers_accessories</c:v>
                </c:pt>
                <c:pt idx="6">
                  <c:v>sports_leisure</c:v>
                </c:pt>
                <c:pt idx="7">
                  <c:v>bed_bath_table</c:v>
                </c:pt>
                <c:pt idx="8">
                  <c:v>watches_gifts</c:v>
                </c:pt>
                <c:pt idx="9">
                  <c:v>health_beauty</c:v>
                </c:pt>
                <c:pt idx="10">
                  <c:v>Grand Total</c:v>
                </c:pt>
              </c:strCache>
            </c:strRef>
          </c:cat>
          <c:val>
            <c:numRef>
              <c:f>'[Worksheet in Que 7]Sheet6'!$B$4:$B$14</c:f>
              <c:numCache>
                <c:formatCode>General</c:formatCode>
                <c:ptCount val="11"/>
                <c:pt idx="0">
                  <c:v>485455</c:v>
                </c:pt>
                <c:pt idx="1">
                  <c:v>592782</c:v>
                </c:pt>
                <c:pt idx="2">
                  <c:v>632522</c:v>
                </c:pt>
                <c:pt idx="3">
                  <c:v>635430</c:v>
                </c:pt>
                <c:pt idx="4">
                  <c:v>730074</c:v>
                </c:pt>
                <c:pt idx="5">
                  <c:v>912285</c:v>
                </c:pt>
                <c:pt idx="6">
                  <c:v>988292</c:v>
                </c:pt>
                <c:pt idx="7">
                  <c:v>1037622</c:v>
                </c:pt>
                <c:pt idx="8">
                  <c:v>1205202</c:v>
                </c:pt>
                <c:pt idx="9">
                  <c:v>1258887</c:v>
                </c:pt>
                <c:pt idx="10">
                  <c:v>8478551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31-4D07-842E-2E8177B65D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64440895"/>
        <c:axId val="631320303"/>
      </c:barChart>
      <c:catAx>
        <c:axId val="20644408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1320303"/>
        <c:crosses val="autoZero"/>
        <c:auto val="1"/>
        <c:lblAlgn val="ctr"/>
        <c:lblOffset val="100"/>
        <c:noMultiLvlLbl val="0"/>
      </c:catAx>
      <c:valAx>
        <c:axId val="631320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4440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1b88e6d-c7de-4fb3-9078-42946a384740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 7.xlsx]Sheet2!PivotTable1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Payment</a:t>
            </a:r>
            <a:r>
              <a:rPr lang="en-US" baseline="0"/>
              <a:t> Method Usage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'[Que 7.xlsx]Sheet2'!$B$3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'[Que 7.xlsx]Sheet2'!$A$4:$A$9</c:f>
              <c:strCache>
                <c:ptCount val="5"/>
                <c:pt idx="0">
                  <c:v>boleto</c:v>
                </c:pt>
                <c:pt idx="1">
                  <c:v>credit_card</c:v>
                </c:pt>
                <c:pt idx="2">
                  <c:v>debit_card</c:v>
                </c:pt>
                <c:pt idx="3">
                  <c:v>not_defined</c:v>
                </c:pt>
                <c:pt idx="4">
                  <c:v>voucher</c:v>
                </c:pt>
              </c:strCache>
            </c:strRef>
          </c:cat>
          <c:val>
            <c:numRef>
              <c:f>'[Que 7.xlsx]Sheet2'!$B$4:$B$9</c:f>
              <c:numCache>
                <c:formatCode>General</c:formatCode>
                <c:ptCount val="5"/>
                <c:pt idx="0">
                  <c:v>19784</c:v>
                </c:pt>
                <c:pt idx="1">
                  <c:v>76795</c:v>
                </c:pt>
                <c:pt idx="2">
                  <c:v>1529</c:v>
                </c:pt>
                <c:pt idx="3">
                  <c:v>3</c:v>
                </c:pt>
                <c:pt idx="4">
                  <c:v>5775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18-4DDE-AF0C-DB8DCCFE7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4554384"/>
        <c:axId val="155777760"/>
      </c:barChart>
      <c:catAx>
        <c:axId val="164554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77760"/>
        <c:crosses val="autoZero"/>
        <c:auto val="1"/>
        <c:lblAlgn val="ctr"/>
        <c:lblOffset val="100"/>
        <c:noMultiLvlLbl val="0"/>
      </c:catAx>
      <c:valAx>
        <c:axId val="15577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54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1dac812-99ab-4747-80ab-59fb0ae6cab4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04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2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02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53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034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00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1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662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66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4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765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9885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642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245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02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042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6694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132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674A38-A79B-4143-9D01-AE481F17C6B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630CB-B7F0-4B68-B383-7ECBEDAFA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934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6" r:id="rId17"/>
    <p:sldLayoutId id="214748390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DE69-548C-1F26-4119-63EF66B51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431" y="879679"/>
            <a:ext cx="10050916" cy="1530334"/>
          </a:xfrm>
        </p:spPr>
        <p:txBody>
          <a:bodyPr>
            <a:normAutofit/>
          </a:bodyPr>
          <a:lstStyle/>
          <a:p>
            <a:r>
              <a:rPr lang="en-IN" sz="3600" b="1" u="sng" dirty="0"/>
              <a:t>Project Name: Ecommerce </a:t>
            </a:r>
            <a:r>
              <a:rPr lang="en-IN" sz="3600" b="1" u="sng" dirty="0" err="1"/>
              <a:t>Analystics</a:t>
            </a:r>
            <a:endParaRPr lang="en-IN" sz="36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51BE1-8340-BFA2-84E7-118E27C78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882" y="2214283"/>
            <a:ext cx="11654118" cy="4450468"/>
          </a:xfrm>
        </p:spPr>
        <p:txBody>
          <a:bodyPr/>
          <a:lstStyle/>
          <a:p>
            <a:r>
              <a:rPr lang="en-IN" b="1" u="sng" dirty="0"/>
              <a:t> </a:t>
            </a:r>
            <a:r>
              <a:rPr lang="en-IN" sz="2400" b="1" u="sng" dirty="0"/>
              <a:t>Presented By: </a:t>
            </a:r>
          </a:p>
          <a:p>
            <a:r>
              <a:rPr lang="en-IN" dirty="0"/>
              <a:t>                                          1. </a:t>
            </a:r>
            <a:r>
              <a:rPr lang="en-IN" sz="1800" dirty="0"/>
              <a:t>Krishna </a:t>
            </a:r>
          </a:p>
          <a:p>
            <a:r>
              <a:rPr lang="en-IN" sz="1800" dirty="0"/>
              <a:t>                                          2. Govind</a:t>
            </a:r>
          </a:p>
          <a:p>
            <a:r>
              <a:rPr lang="en-IN" sz="1800" dirty="0"/>
              <a:t>                                          3. Khushi</a:t>
            </a:r>
          </a:p>
          <a:p>
            <a:r>
              <a:rPr lang="en-IN" sz="1800" dirty="0"/>
              <a:t>                                          4. Sanket</a:t>
            </a:r>
          </a:p>
          <a:p>
            <a:r>
              <a:rPr lang="en-IN" sz="1800" dirty="0"/>
              <a:t>                                          5. Spandana</a:t>
            </a:r>
          </a:p>
          <a:p>
            <a:r>
              <a:rPr lang="en-IN" sz="1800" dirty="0"/>
              <a:t>                                          6. Shubham</a:t>
            </a:r>
          </a:p>
          <a:p>
            <a:r>
              <a:rPr lang="en-IN" sz="1800" dirty="0"/>
              <a:t>                                          7. Feba                                                                                        </a:t>
            </a:r>
            <a:r>
              <a:rPr lang="en-IN" sz="1800" b="1" u="sng" dirty="0"/>
              <a:t>Guided by:</a:t>
            </a:r>
          </a:p>
          <a:p>
            <a:r>
              <a:rPr lang="en-IN" dirty="0"/>
              <a:t>                                                                                                                                                1. Anand Babu</a:t>
            </a:r>
          </a:p>
          <a:p>
            <a:r>
              <a:rPr lang="en-IN" sz="1800" dirty="0"/>
              <a:t>                                                                                                                                                 2. Varsha </a:t>
            </a:r>
          </a:p>
          <a:p>
            <a:r>
              <a:rPr lang="en-IN" dirty="0"/>
              <a:t>                                                                                                                                                 </a:t>
            </a: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25934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33022-E852-C086-3526-A0FDDAEF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31" y="233627"/>
            <a:ext cx="2659799" cy="1137713"/>
          </a:xfrm>
        </p:spPr>
        <p:txBody>
          <a:bodyPr/>
          <a:lstStyle/>
          <a:p>
            <a:r>
              <a:rPr lang="en-IN" b="1" dirty="0"/>
              <a:t>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4D2B2-3824-1381-556C-D6AA83344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931" y="1156296"/>
            <a:ext cx="11165367" cy="133237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Introduction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1 Weekday Vs Weekend (order_purchase_timestamp) Payment Statistics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2 Number of Orders with review score 5 and payment type as credit card.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3 Average number of days taken for order_delivered_customer_date for </a:t>
            </a:r>
            <a:r>
              <a:rPr lang="en-IN" dirty="0" err="1"/>
              <a:t>pet_shop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4 Average price and payment values from customers of sao </a:t>
            </a:r>
            <a:r>
              <a:rPr lang="en-IN" dirty="0" err="1"/>
              <a:t>paulo</a:t>
            </a:r>
            <a:r>
              <a:rPr lang="en-IN" dirty="0"/>
              <a:t> city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5 Relationship between shipping days (order_delivered_customer_date - order_purchase_timestamp) Vs review scores.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Excel Dashboard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Power BI Dashboard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Tableau Dashboard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SQL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Conclusion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57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B791-3429-E092-21E2-8B8E0C2DC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25" y="133972"/>
            <a:ext cx="11631478" cy="1825674"/>
          </a:xfrm>
        </p:spPr>
        <p:txBody>
          <a:bodyPr>
            <a:normAutofit/>
          </a:bodyPr>
          <a:lstStyle/>
          <a:p>
            <a:r>
              <a:rPr lang="en-IN" sz="2400" b="1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B01F3-4134-BD0D-0F20-4657B151C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604" y="901775"/>
            <a:ext cx="10369392" cy="548959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Olist</a:t>
            </a:r>
            <a:r>
              <a:rPr lang="en-US" sz="2400" dirty="0"/>
              <a:t> is a Brazilian e-commerce marketplace connecting customers and sellers.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project analyzes approximately 100K orders from 2016–2018.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dataset includes information about customers, orders, products, sellers, payments, reviews, and delivery.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different datasets are connected through common keys such as Order ID, Customer ID, Product ID, and Seller </a:t>
            </a:r>
            <a:r>
              <a:rPr lang="en-US" sz="2400" dirty="0" err="1"/>
              <a:t>ID.The</a:t>
            </a:r>
            <a:r>
              <a:rPr lang="en-US" sz="2400" dirty="0"/>
              <a:t> analysis provides insights into sales performance, customer satisfaction, payment methods, and delivery efficiency.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0808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6D0ACF-530B-2A4F-DF3B-1AD80C1DB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165" y="336165"/>
            <a:ext cx="11076401" cy="588552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1 Weekday Vs Weekend (order_purchase_timestamp) Payment Statistics.</a:t>
            </a:r>
          </a:p>
          <a:p>
            <a:endParaRPr lang="en-IN" dirty="0"/>
          </a:p>
          <a:p>
            <a:r>
              <a:rPr lang="en-IN" dirty="0"/>
              <a:t>Grand Total is 16008872.12</a:t>
            </a:r>
          </a:p>
          <a:p>
            <a:r>
              <a:rPr lang="en-IN" dirty="0"/>
              <a:t>Weekday is 12367988.08</a:t>
            </a:r>
          </a:p>
          <a:p>
            <a:r>
              <a:rPr lang="en-IN" dirty="0"/>
              <a:t>Weekend is 3640884.04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5CFB43C-A1B3-05D1-24EF-9C6E6D4ABA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114823"/>
              </p:ext>
            </p:extLst>
          </p:nvPr>
        </p:nvGraphicFramePr>
        <p:xfrm>
          <a:off x="210533" y="2653553"/>
          <a:ext cx="6360596" cy="3765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782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B63C79C-B0CB-E7EA-990D-D0BEA38F9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872" y="355019"/>
            <a:ext cx="10803025" cy="630973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2  Number of Orders with review score 5 and payment type as credit card.</a:t>
            </a:r>
          </a:p>
          <a:p>
            <a:endParaRPr lang="en-US" dirty="0"/>
          </a:p>
          <a:p>
            <a:r>
              <a:rPr lang="en-US" dirty="0"/>
              <a:t>Sum of ORDER NO OF CREDIT CARDS (5 STARS)</a:t>
            </a:r>
          </a:p>
          <a:p>
            <a:r>
              <a:rPr lang="en-IN" dirty="0"/>
              <a:t>43981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44B0212-1644-8E0B-C210-4734FE25C8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983112"/>
              </p:ext>
            </p:extLst>
          </p:nvPr>
        </p:nvGraphicFramePr>
        <p:xfrm>
          <a:off x="600755" y="2402541"/>
          <a:ext cx="5943479" cy="4100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988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1D1986-C84E-8D12-6BAC-38371975E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019" y="213617"/>
            <a:ext cx="10774744" cy="633801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3 Average number of days taken for order_delivered_customer_date for </a:t>
            </a:r>
            <a:r>
              <a:rPr lang="en-IN" dirty="0" err="1"/>
              <a:t>pet_shop</a:t>
            </a:r>
            <a:endParaRPr lang="en-IN" dirty="0"/>
          </a:p>
          <a:p>
            <a:endParaRPr lang="en-IN" dirty="0"/>
          </a:p>
          <a:p>
            <a:r>
              <a:rPr lang="en-IN" dirty="0"/>
              <a:t>Pet_ Shop Average delivery is 0940855756872</a:t>
            </a:r>
          </a:p>
          <a:p>
            <a:r>
              <a:rPr lang="en-IN" dirty="0"/>
              <a:t>Grand Total is 12.0940855756872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2A029D9-FD1C-3347-C1AE-AE91AF727B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0323174"/>
              </p:ext>
            </p:extLst>
          </p:nvPr>
        </p:nvGraphicFramePr>
        <p:xfrm>
          <a:off x="396019" y="2655900"/>
          <a:ext cx="5817995" cy="3356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032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D43C59-9CD1-2662-E114-2763A5C1A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738" y="345593"/>
            <a:ext cx="10510794" cy="604578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4 Average price and payment values from customers of sao paulo city</a:t>
            </a:r>
          </a:p>
          <a:p>
            <a:endParaRPr lang="en-IN" dirty="0"/>
          </a:p>
          <a:p>
            <a:r>
              <a:rPr lang="en-IN" dirty="0"/>
              <a:t>Average of price 113.0580929</a:t>
            </a:r>
          </a:p>
          <a:p>
            <a:r>
              <a:rPr lang="en-IN" dirty="0"/>
              <a:t>Average of Payment Value is 134.6496837</a:t>
            </a:r>
          </a:p>
          <a:p>
            <a:endParaRPr lang="en-IN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AF239FA-A702-5A8A-EF03-C04ACF4E98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3219639"/>
              </p:ext>
            </p:extLst>
          </p:nvPr>
        </p:nvGraphicFramePr>
        <p:xfrm>
          <a:off x="367738" y="2303929"/>
          <a:ext cx="5952381" cy="3921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8247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6A7D05-39C5-2291-4348-2F9E12DA8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471" y="213616"/>
            <a:ext cx="10784170" cy="620603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5  Relationship between shipping days (order_delivered_customer_date - order_purchase_timestamp) Vs review scores.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4BF238C-EB8E-5EF0-AE44-B743646C77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8987734"/>
              </p:ext>
            </p:extLst>
          </p:nvPr>
        </p:nvGraphicFramePr>
        <p:xfrm>
          <a:off x="632059" y="1933520"/>
          <a:ext cx="6970011" cy="4486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390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8704EC-EE95-2A9A-0385-5C47DAFD6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178" y="204190"/>
            <a:ext cx="10821878" cy="631915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 6 Top 10 Categories by Sales Revenue:</a:t>
            </a:r>
          </a:p>
          <a:p>
            <a:endParaRPr lang="en-IN" dirty="0"/>
          </a:p>
          <a:p>
            <a:r>
              <a:rPr lang="en-US" dirty="0" err="1"/>
              <a:t>garden_tools</a:t>
            </a:r>
            <a:r>
              <a:rPr lang="en-US" dirty="0"/>
              <a:t> 485455</a:t>
            </a:r>
          </a:p>
          <a:p>
            <a:r>
              <a:rPr lang="en-US" dirty="0"/>
              <a:t>Auto 592782</a:t>
            </a:r>
          </a:p>
          <a:p>
            <a:r>
              <a:rPr lang="en-US" dirty="0"/>
              <a:t>Houseware 632522</a:t>
            </a:r>
          </a:p>
          <a:p>
            <a:r>
              <a:rPr lang="en-US" dirty="0" err="1"/>
              <a:t>cool_stuff</a:t>
            </a:r>
            <a:r>
              <a:rPr lang="en-US" dirty="0"/>
              <a:t>  635430 </a:t>
            </a:r>
          </a:p>
          <a:p>
            <a:r>
              <a:rPr lang="en-US" dirty="0" err="1"/>
              <a:t>furniture_decor</a:t>
            </a:r>
            <a:r>
              <a:rPr lang="en-US" dirty="0"/>
              <a:t> 730074</a:t>
            </a:r>
          </a:p>
          <a:p>
            <a:r>
              <a:rPr lang="en-US" dirty="0" err="1"/>
              <a:t>computers_accessories</a:t>
            </a:r>
            <a:r>
              <a:rPr lang="en-US" dirty="0"/>
              <a:t> 912285</a:t>
            </a:r>
          </a:p>
          <a:p>
            <a:r>
              <a:rPr lang="en-US" dirty="0" err="1"/>
              <a:t>sports_leisure</a:t>
            </a:r>
            <a:r>
              <a:rPr lang="en-US" dirty="0"/>
              <a:t> 988292</a:t>
            </a:r>
          </a:p>
          <a:p>
            <a:r>
              <a:rPr lang="en-US" dirty="0" err="1"/>
              <a:t>bed_bath_table</a:t>
            </a:r>
            <a:r>
              <a:rPr lang="en-US" dirty="0"/>
              <a:t> 1037622</a:t>
            </a:r>
          </a:p>
          <a:p>
            <a:r>
              <a:rPr lang="en-US" dirty="0" err="1"/>
              <a:t>watches_gifts</a:t>
            </a:r>
            <a:r>
              <a:rPr lang="en-US" dirty="0"/>
              <a:t> 1205202</a:t>
            </a:r>
          </a:p>
          <a:p>
            <a:r>
              <a:rPr lang="en-US" dirty="0" err="1"/>
              <a:t>health_beauty</a:t>
            </a:r>
            <a:r>
              <a:rPr lang="en-US" dirty="0"/>
              <a:t> 1258887</a:t>
            </a:r>
          </a:p>
          <a:p>
            <a:r>
              <a:rPr lang="en-US" dirty="0"/>
              <a:t>Grand Total 8478551</a:t>
            </a:r>
            <a:endParaRPr lang="en-IN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A8821BF-1655-C6DC-4E8D-DC6AB34D1F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6695456"/>
              </p:ext>
            </p:extLst>
          </p:nvPr>
        </p:nvGraphicFramePr>
        <p:xfrm>
          <a:off x="5722117" y="2017335"/>
          <a:ext cx="6149787" cy="4506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3590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57E8A4-1B57-4C62-48E0-6D6DD7533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896" y="260750"/>
            <a:ext cx="11528889" cy="626259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KPI </a:t>
            </a:r>
            <a:r>
              <a:rPr lang="en-US" dirty="0"/>
              <a:t>7 Which payment method is most frequently used by customers</a:t>
            </a:r>
          </a:p>
          <a:p>
            <a:r>
              <a:rPr lang="en-US" dirty="0"/>
              <a:t>Grand Total 103886</a:t>
            </a:r>
          </a:p>
          <a:p>
            <a:r>
              <a:rPr lang="en-US" dirty="0" err="1"/>
              <a:t>Boleto</a:t>
            </a:r>
            <a:r>
              <a:rPr lang="en-US" dirty="0"/>
              <a:t> 19784</a:t>
            </a:r>
          </a:p>
          <a:p>
            <a:r>
              <a:rPr lang="en-US" dirty="0" err="1"/>
              <a:t>Credit_card</a:t>
            </a:r>
            <a:r>
              <a:rPr lang="en-US" dirty="0"/>
              <a:t> 76795</a:t>
            </a:r>
          </a:p>
          <a:p>
            <a:r>
              <a:rPr lang="en-US" dirty="0" err="1"/>
              <a:t>Debit_card</a:t>
            </a:r>
            <a:r>
              <a:rPr lang="en-US" dirty="0"/>
              <a:t> 1529</a:t>
            </a:r>
          </a:p>
          <a:p>
            <a:r>
              <a:rPr lang="en-US" dirty="0" err="1"/>
              <a:t>not_defined</a:t>
            </a:r>
            <a:r>
              <a:rPr lang="en-US" dirty="0"/>
              <a:t>  3voucher 5775</a:t>
            </a:r>
          </a:p>
          <a:p>
            <a:r>
              <a:rPr lang="en-US" dirty="0"/>
              <a:t>MOST USED PAYMENT METHOD</a:t>
            </a:r>
          </a:p>
          <a:p>
            <a:r>
              <a:rPr lang="en-US" dirty="0"/>
              <a:t>Credit Card  76,795 payments (73.92%)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7C50F0E-D6E9-D540-BE88-060409AF8E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1765873"/>
              </p:ext>
            </p:extLst>
          </p:nvPr>
        </p:nvGraphicFramePr>
        <p:xfrm>
          <a:off x="6284259" y="1148731"/>
          <a:ext cx="5624845" cy="5448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223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2541D1-8EFE-381B-4DCC-4B7E2CD55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41" y="62753"/>
            <a:ext cx="11610403" cy="6573717"/>
          </a:xfrm>
        </p:spPr>
        <p:txBody>
          <a:bodyPr/>
          <a:lstStyle/>
          <a:p>
            <a:r>
              <a:rPr lang="en-IN" sz="2800" b="1" dirty="0"/>
              <a:t>  Excel Dashboard</a:t>
            </a:r>
          </a:p>
          <a:p>
            <a:endParaRPr lang="en-IN" sz="2800" b="1" dirty="0"/>
          </a:p>
          <a:p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AACEA2-8501-96E9-824A-7578EE8F0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3"/>
          <a:stretch>
            <a:fillRect/>
          </a:stretch>
        </p:blipFill>
        <p:spPr>
          <a:xfrm>
            <a:off x="72729" y="692871"/>
            <a:ext cx="12046542" cy="616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12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E236C6-488F-C1D6-6690-FE027985F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042" y="204190"/>
            <a:ext cx="11283793" cy="6272023"/>
          </a:xfrm>
        </p:spPr>
        <p:txBody>
          <a:bodyPr/>
          <a:lstStyle/>
          <a:p>
            <a:r>
              <a:rPr lang="en-IN" sz="2400" b="1" dirty="0"/>
              <a:t>Power BI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E6454-CD14-FEC1-36BB-58963E423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75" y="663274"/>
            <a:ext cx="11767183" cy="609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1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8CD04F-D612-B2E7-AEEF-D4713CE54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032" y="133766"/>
            <a:ext cx="11352368" cy="6616657"/>
          </a:xfrm>
        </p:spPr>
        <p:txBody>
          <a:bodyPr/>
          <a:lstStyle/>
          <a:p>
            <a:r>
              <a:rPr lang="en-IN" sz="2400" b="1" dirty="0"/>
              <a:t>Tableau Dashboard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48E21-8FF7-C7CF-8135-0B04AF64D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43190"/>
            <a:ext cx="10483780" cy="618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68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1237-A7AC-6541-1649-36191E1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61" y="156061"/>
            <a:ext cx="11631478" cy="1072104"/>
          </a:xfrm>
        </p:spPr>
        <p:txBody>
          <a:bodyPr/>
          <a:lstStyle/>
          <a:p>
            <a:r>
              <a:rPr lang="en-IN"/>
              <a:t>MYSQL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BA6AC-079B-9D53-1AE0-717F65D72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4504" y="1102658"/>
            <a:ext cx="11235825" cy="5271247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C40C26-E8D5-74D9-4809-804450EF98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607" b="9514"/>
          <a:stretch>
            <a:fillRect/>
          </a:stretch>
        </p:blipFill>
        <p:spPr>
          <a:xfrm>
            <a:off x="653675" y="1481095"/>
            <a:ext cx="4976160" cy="45143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D305B7-BF7E-668B-DF11-3D54A7DC1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" t="-260" r="29958" b="9621"/>
          <a:stretch>
            <a:fillRect/>
          </a:stretch>
        </p:blipFill>
        <p:spPr>
          <a:xfrm>
            <a:off x="6096000" y="1481094"/>
            <a:ext cx="5331010" cy="451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59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E0ED49-E6C1-010D-A713-BFC98D085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433" y="366849"/>
            <a:ext cx="11029637" cy="627599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FF14D-89D8-4B08-C0F2-61E81BE4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118" b="8385"/>
          <a:stretch>
            <a:fillRect/>
          </a:stretch>
        </p:blipFill>
        <p:spPr>
          <a:xfrm>
            <a:off x="494523" y="668432"/>
            <a:ext cx="4678111" cy="4557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33749F-4215-55E0-C0D5-92127067B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517" b="9312"/>
          <a:stretch>
            <a:fillRect/>
          </a:stretch>
        </p:blipFill>
        <p:spPr>
          <a:xfrm>
            <a:off x="5824071" y="668432"/>
            <a:ext cx="5139764" cy="45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77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08D90E-0863-202B-2BBF-91FCEE5E6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610" y="366849"/>
            <a:ext cx="11442014" cy="6024985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5E20E-00A5-1EBC-0866-D24A8D764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13" b="9319"/>
          <a:stretch>
            <a:fillRect/>
          </a:stretch>
        </p:blipFill>
        <p:spPr>
          <a:xfrm>
            <a:off x="412376" y="663036"/>
            <a:ext cx="5226424" cy="4554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14F1C6-42CF-BF39-4D8A-9D0AF84A96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084" b="6481"/>
          <a:stretch>
            <a:fillRect/>
          </a:stretch>
        </p:blipFill>
        <p:spPr>
          <a:xfrm>
            <a:off x="5979458" y="663035"/>
            <a:ext cx="4778189" cy="455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95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6FF9-6B94-DC18-C3BE-E930FD0D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61" y="309249"/>
            <a:ext cx="11631478" cy="1825674"/>
          </a:xfrm>
        </p:spPr>
        <p:txBody>
          <a:bodyPr/>
          <a:lstStyle/>
          <a:p>
            <a:r>
              <a:rPr lang="en-IN" sz="2400" b="1" dirty="0"/>
              <a:t>Challenges Faced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B7A5F-D867-C359-68EA-23870DF3E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306" y="833718"/>
            <a:ext cx="11286071" cy="571503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major challenge is that total payment value alone does not explain customer </a:t>
            </a:r>
            <a:r>
              <a:rPr lang="en-US" dirty="0" err="1"/>
              <a:t>behaviour</a:t>
            </a:r>
            <a:r>
              <a:rPr lang="en-US" dirty="0"/>
              <a:t>. It may be affected by the number of orders, discounts, product categories, or seasonal campaigns.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Alternative solution Instead of using only a weekday-versus-weekend comparison, we can use a time-series dashboard showing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Declining Sales in Some Regions – Certain regions are not achieving the expected sales targets.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Low Customer Retention – Difficulty in retaining existing customers and encouraging repeat </a:t>
            </a:r>
            <a:r>
              <a:rPr lang="en-US" dirty="0" err="1"/>
              <a:t>purchases.Uneven</a:t>
            </a:r>
            <a:r>
              <a:rPr lang="en-US" dirty="0"/>
              <a:t> Product Performance – Some products generate high revenue, while others have consistently low sales.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Seasonal Sales Fluctuations – Sales vary significantly during different months or seasons.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Target Achievement Gap – Actual sales are below the planned/target sales in some periods.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 Dependence on Top Products – A small number of products contribute a large portion of total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Limited Customer Insights – Lack of detailed information about customer preferences and buying behavior.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Profit Margin Pressure – Increasing discounts or costs can reduce overall profitability.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Data Quality &amp; Accuracy – Missing, duplicate, or inconsistent sales data can affect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319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4F1F6F-69A8-3E89-9C76-DD791FF04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645" y="250308"/>
            <a:ext cx="10913096" cy="6275998"/>
          </a:xfrm>
        </p:spPr>
        <p:txBody>
          <a:bodyPr/>
          <a:lstStyle/>
          <a:p>
            <a:r>
              <a:rPr lang="en-IN" sz="2400" b="1" dirty="0"/>
              <a:t>Conclusion</a:t>
            </a:r>
          </a:p>
          <a:p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 conclude, this project shows that data analytics can connect sales, payment, delivery, and customer satisfaction into one business </a:t>
            </a:r>
            <a:r>
              <a:rPr lang="en-US" dirty="0" err="1"/>
              <a:t>view.The</a:t>
            </a:r>
            <a:r>
              <a:rPr lang="en-US" dirty="0"/>
              <a:t> key findings are that weekday payments are higher, credit cards are the dominant payment method, health and beauty leads category revenue, and faster delivery is associated with better customer reviews.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most important business opportunity is improving delivery performance, because shipping time appears to have a strong relationship with customer satisfaction.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4533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555</TotalTime>
  <Words>780</Words>
  <Application>Microsoft Office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Century Gothic</vt:lpstr>
      <vt:lpstr>Wingdings</vt:lpstr>
      <vt:lpstr>Wingdings 3</vt:lpstr>
      <vt:lpstr>Ion</vt:lpstr>
      <vt:lpstr>Project Name: Ecommerce Analystics</vt:lpstr>
      <vt:lpstr>INDEX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MYSQL</vt:lpstr>
      <vt:lpstr>PowerPoint Presentation</vt:lpstr>
      <vt:lpstr>PowerPoint Presentation</vt:lpstr>
      <vt:lpstr>Challenges Faced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Mehra</dc:creator>
  <cp:lastModifiedBy>Khushi Mehra</cp:lastModifiedBy>
  <cp:revision>22</cp:revision>
  <dcterms:created xsi:type="dcterms:W3CDTF">2026-08-29T02:35:42Z</dcterms:created>
  <dcterms:modified xsi:type="dcterms:W3CDTF">2026-08-30T12:24:30Z</dcterms:modified>
</cp:coreProperties>
</file>